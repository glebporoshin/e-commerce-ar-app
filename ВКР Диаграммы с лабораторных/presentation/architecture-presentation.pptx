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D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2237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D3A6B"/>
                </a:solidFill>
                <a:latin typeface="Times New Roman"/>
              </a:rPr>
              <a:t>Архитектура мобильного
приложения магазина мебели
с AR-примеркой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818120" y="1005840"/>
            <a:ext cx="3749039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61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818120" y="1005840"/>
            <a:ext cx="3749039" cy="393192"/>
          </a:xfrm>
          <a:prstGeom prst="rect">
            <a:avLst/>
          </a:prstGeom>
          <a:solidFill>
            <a:srgbClr val="1061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Что внутри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82712" y="1481328"/>
            <a:ext cx="3474719" cy="437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0252B"/>
                </a:solidFill>
                <a:latin typeface="Times New Roman"/>
              </a:defRPr>
            </a:pPr>
            <a:r>
              <a:t>• C4 Context: кто использует систему и с какими внешними системами она взаимодействует</a:t>
            </a:r>
          </a:p>
          <a:p>
            <a:pPr>
              <a:spcAft>
                <a:spcPts val="600"/>
              </a:spcAft>
              <a:defRPr sz="1400">
                <a:solidFill>
                  <a:srgbClr val="20252B"/>
                </a:solidFill>
                <a:latin typeface="Times New Roman"/>
              </a:defRPr>
            </a:pPr>
            <a:r>
              <a:t>• C4 Container: из каких технических контейнеров состоит решение</a:t>
            </a:r>
          </a:p>
          <a:p>
            <a:pPr>
              <a:spcAft>
                <a:spcPts val="600"/>
              </a:spcAft>
              <a:defRPr sz="1400">
                <a:solidFill>
                  <a:srgbClr val="20252B"/>
                </a:solidFill>
                <a:latin typeface="Times New Roman"/>
              </a:defRPr>
            </a:pPr>
            <a:r>
              <a:t>• Domain Model: какие бизнес-сущности и value objects лежат в основе предметной области</a:t>
            </a:r>
          </a:p>
          <a:p>
            <a:pPr>
              <a:spcAft>
                <a:spcPts val="600"/>
              </a:spcAft>
              <a:defRPr sz="1400">
                <a:solidFill>
                  <a:srgbClr val="20252B"/>
                </a:solidFill>
                <a:latin typeface="Times New Roman"/>
              </a:defRPr>
            </a:pPr>
            <a:r>
              <a:t>• UML Core + Scaled Architecture: как реализован ключевой PDP-AR-сценарий и как ядро связано с инфраструктурой</a:t>
            </a:r>
          </a:p>
          <a:p>
            <a:pPr>
              <a:spcAft>
                <a:spcPts val="600"/>
              </a:spcAft>
              <a:defRPr sz="1400">
                <a:solidFill>
                  <a:srgbClr val="20252B"/>
                </a:solidFill>
                <a:latin typeface="Times New Roman"/>
              </a:defRPr>
            </a:pPr>
            <a:r>
              <a:t>• Facade Diagram: как скрыта сложность iOS AR-подсистемы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64465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16973"/>
                </a:solidFill>
                <a:latin typeface="Times New Roman"/>
              </a:rPr>
              <a:t>Подготовлено автоматически из draw.io диаграмм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D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D3A6B"/>
                </a:solidFill>
                <a:latin typeface="Times New Roman"/>
              </a:rPr>
              <a:t>C4 Context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616973"/>
                </a:solidFill>
                <a:latin typeface="Times New Roman"/>
              </a:rPr>
              <a:t>Кто взаимодействует с системой и какие внешние зависимости есть у проекта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754380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ab1-con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389888"/>
            <a:ext cx="7242048" cy="482803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29600" y="1234440"/>
            <a:ext cx="3456432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61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0" y="1234440"/>
            <a:ext cx="3456432" cy="393192"/>
          </a:xfrm>
          <a:prstGeom prst="rect">
            <a:avLst/>
          </a:prstGeom>
          <a:solidFill>
            <a:srgbClr val="1061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Что показывает диаграмма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94192" y="1709928"/>
            <a:ext cx="3182112" cy="3913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0252B"/>
                </a:solidFill>
                <a:latin typeface="Times New Roman"/>
              </a:defRPr>
            </a:pPr>
            <a:r>
              <a:t>• Система рассматривается как единый программный продукт магазина мебели с AR-примеркой.</a:t>
            </a:r>
          </a:p>
          <a:p>
            <a:pPr>
              <a:spcAft>
                <a:spcPts val="600"/>
              </a:spcAft>
              <a:defRPr sz="1400">
                <a:solidFill>
                  <a:srgbClr val="20252B"/>
                </a:solidFill>
                <a:latin typeface="Times New Roman"/>
              </a:defRPr>
            </a:pPr>
            <a:r>
              <a:t>• Основной актор: покупатель, который просматривает каталог, открывает карточку товара, запускает AR и управляет корзиной.</a:t>
            </a:r>
          </a:p>
          <a:p>
            <a:pPr>
              <a:spcAft>
                <a:spcPts val="600"/>
              </a:spcAft>
              <a:defRPr sz="1400">
                <a:solidFill>
                  <a:srgbClr val="20252B"/>
                </a:solidFill>
                <a:latin typeface="Times New Roman"/>
              </a:defRPr>
            </a:pPr>
            <a:r>
              <a:t>• Внешние системы: CDN/Object Storage для медиа и 3D-моделей, а также ARCore/ARKit как платформенные AR-сервисы устройства.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5577840"/>
            <a:ext cx="3456432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61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ctr"/>
            <a:r>
              <a:rPr sz="1200">
                <a:solidFill>
                  <a:srgbClr val="20252B"/>
                </a:solidFill>
                <a:latin typeface="Times New Roman"/>
              </a:rPr>
              <a:t>Эта схема нужна, чтобы зафиксировать границы системы и ключевые пользовательские use cases до обсуждения технологий.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64040" y="64465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16973"/>
                </a:solidFill>
                <a:latin typeface="Times New Roman"/>
              </a:rPr>
              <a:t>Лабораторная 1, страница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D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D3A6B"/>
                </a:solidFill>
                <a:latin typeface="Times New Roman"/>
              </a:rPr>
              <a:t>C4 Container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616973"/>
                </a:solidFill>
                <a:latin typeface="Times New Roman"/>
              </a:rPr>
              <a:t>Из каких технических контейнеров состоит решение и где живут данные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754380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ab1-contai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389888"/>
            <a:ext cx="7242048" cy="482803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29600" y="1234440"/>
            <a:ext cx="3456432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A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0" y="1234440"/>
            <a:ext cx="3456432" cy="393192"/>
          </a:xfrm>
          <a:prstGeom prst="rect">
            <a:avLst/>
          </a:prstGeom>
          <a:solidFill>
            <a:srgbClr val="23A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Что показывает диаграмма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94192" y="1709928"/>
            <a:ext cx="3182112" cy="3913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0252B"/>
                </a:solidFill>
                <a:latin typeface="Times New Roman"/>
              </a:defRPr>
            </a:pPr>
            <a:r>
              <a:t>• Пользователь работает через мобильное приложение, которое получает данные каталога через Backend API.</a:t>
            </a:r>
          </a:p>
          <a:p>
            <a:pPr>
              <a:spcAft>
                <a:spcPts val="600"/>
              </a:spcAft>
              <a:defRPr sz="1400">
                <a:solidFill>
                  <a:srgbClr val="20252B"/>
                </a:solidFill>
                <a:latin typeface="Times New Roman"/>
              </a:defRPr>
            </a:pPr>
            <a:r>
              <a:t>• Карточки товаров и ссылки на медиа живут в каталоге, а корзина и metadata моделей хранятся локально.</a:t>
            </a:r>
          </a:p>
          <a:p>
            <a:pPr>
              <a:spcAft>
                <a:spcPts val="600"/>
              </a:spcAft>
              <a:defRPr sz="1400">
                <a:solidFill>
                  <a:srgbClr val="20252B"/>
                </a:solidFill>
                <a:latin typeface="Times New Roman"/>
              </a:defRPr>
            </a:pPr>
            <a:r>
              <a:t>• AR-сценарий опирается на локальный файловый кэш 3D-моделей и на платформенные сервисы ARCore/ARKit.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5577840"/>
            <a:ext cx="3456432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A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ctr"/>
            <a:r>
              <a:rPr sz="1200">
                <a:solidFill>
                  <a:srgbClr val="20252B"/>
                </a:solidFill>
                <a:latin typeface="Times New Roman"/>
              </a:rPr>
              <a:t>Эта схема раскрывает систему до уровня контейнеров и показывает, как пользовательские сценарии распределяются по техническим блокам.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64040" y="64465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16973"/>
                </a:solidFill>
                <a:latin typeface="Times New Roman"/>
              </a:rPr>
              <a:t>Лабораторная 1, страница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D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D3A6B"/>
                </a:solidFill>
                <a:latin typeface="Times New Roman"/>
              </a:rPr>
              <a:t>Domain Model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616973"/>
                </a:solidFill>
                <a:latin typeface="Times New Roman"/>
              </a:rPr>
              <a:t>Какие бизнес-сущности лежат в основе предметной области проекта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754380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ab1-do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389888"/>
            <a:ext cx="7242048" cy="482803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29600" y="1234440"/>
            <a:ext cx="3456432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2B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0" y="1234440"/>
            <a:ext cx="3456432" cy="393192"/>
          </a:xfrm>
          <a:prstGeom prst="rect">
            <a:avLst/>
          </a:prstGeom>
          <a:solidFill>
            <a:srgbClr val="82B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Что показывает диаграмма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94192" y="1709928"/>
            <a:ext cx="3182112" cy="3913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0252B"/>
                </a:solidFill>
                <a:latin typeface="Times New Roman"/>
              </a:defRPr>
            </a:pPr>
            <a:r>
              <a:t>• Центральные сущности: Product и ShoppingCart; CartLine живет внутри корзины как часть агрегата.</a:t>
            </a:r>
          </a:p>
          <a:p>
            <a:pPr>
              <a:spcAft>
                <a:spcPts val="600"/>
              </a:spcAft>
              <a:defRPr sz="1400">
                <a:solidFill>
                  <a:srgbClr val="20252B"/>
                </a:solidFill>
                <a:latin typeface="Times New Roman"/>
              </a:defRPr>
            </a:pPr>
            <a:r>
              <a:t>• Value Objects выделены отдельно: Money, ProductImage, ProductAttribute, ArModel, ProductDimensions, CartItemSnapshot.</a:t>
            </a:r>
          </a:p>
          <a:p>
            <a:pPr>
              <a:spcAft>
                <a:spcPts val="600"/>
              </a:spcAft>
              <a:defRPr sz="1400">
                <a:solidFill>
                  <a:srgbClr val="20252B"/>
                </a:solidFill>
                <a:latin typeface="Times New Roman"/>
              </a:defRPr>
            </a:pPr>
            <a:r>
              <a:t>• Смысл диаграммы не в БД, а в бизнес-логике: поведении сущностей, связях и инвариантах предметной области.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5577840"/>
            <a:ext cx="3456432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2B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ctr"/>
            <a:r>
              <a:rPr sz="1200">
                <a:solidFill>
                  <a:srgbClr val="20252B"/>
                </a:solidFill>
                <a:latin typeface="Times New Roman"/>
              </a:rPr>
              <a:t>Здесь фиксируется доменная модель без SQL-типов и таблиц: сначала сущности и их смысл, потом уже возможный ORM-маппинг.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64040" y="64465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16973"/>
                </a:solidFill>
                <a:latin typeface="Times New Roman"/>
              </a:rPr>
              <a:t>Лабораторная 1, страница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D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D3A6B"/>
                </a:solidFill>
                <a:latin typeface="Times New Roman"/>
              </a:rPr>
              <a:t>UML Core Domain: PDP AR Flow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616973"/>
                </a:solidFill>
                <a:latin typeface="Times New Roman"/>
              </a:rPr>
              <a:t>Ключевой сценарий внутри ядра приложения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754380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ab2-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389888"/>
            <a:ext cx="7242048" cy="482803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29600" y="1234440"/>
            <a:ext cx="3456432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9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0" y="1234440"/>
            <a:ext cx="3456432" cy="393192"/>
          </a:xfrm>
          <a:prstGeom prst="rect">
            <a:avLst/>
          </a:prstGeom>
          <a:solidFill>
            <a:srgbClr val="D7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Что показывает диаграмма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94192" y="1709928"/>
            <a:ext cx="3182112" cy="3913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0252B"/>
                </a:solidFill>
                <a:latin typeface="Times New Roman"/>
              </a:defRPr>
            </a:pPr>
            <a:r>
              <a:t>• PdpViewModel оркестрирует сценарий карточки товара и знает только use case-контракты.</a:t>
            </a:r>
          </a:p>
          <a:p>
            <a:pPr>
              <a:spcAft>
                <a:spcPts val="600"/>
              </a:spcAft>
              <a:defRPr sz="1400">
                <a:solidFill>
                  <a:srgbClr val="20252B"/>
                </a:solidFill>
                <a:latin typeface="Times New Roman"/>
              </a:defRPr>
            </a:pPr>
            <a:r>
              <a:t>• Сценарий: загрузить ProductPageInfo, проверить локальный кэш модели, при необходимости скачать 3D-файл и выпустить OpenArObject.</a:t>
            </a:r>
          </a:p>
          <a:p>
            <a:pPr>
              <a:spcAft>
                <a:spcPts val="600"/>
              </a:spcAft>
              <a:defRPr sz="1400">
                <a:solidFill>
                  <a:srgbClr val="20252B"/>
                </a:solidFill>
                <a:latin typeface="Times New Roman"/>
              </a:defRPr>
            </a:pPr>
            <a:r>
              <a:t>• Параллельно через отдельные use cases поддерживается наблюдение и изменение количества товара в локальной корзине.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5577840"/>
            <a:ext cx="3456432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9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ctr"/>
            <a:r>
              <a:rPr sz="1200">
                <a:solidFill>
                  <a:srgbClr val="20252B"/>
                </a:solidFill>
                <a:latin typeface="Times New Roman"/>
              </a:rPr>
              <a:t>Эта схема показывает core-логику ключевого AR-сценария без привязки к конкретной инфраструктуре.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64040" y="64465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16973"/>
                </a:solidFill>
                <a:latin typeface="Times New Roman"/>
              </a:rPr>
              <a:t>Лабораторная 2, страница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D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D3A6B"/>
                </a:solidFill>
                <a:latin typeface="Times New Roman"/>
              </a:rPr>
              <a:t>Scaled Architecture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616973"/>
                </a:solidFill>
                <a:latin typeface="Times New Roman"/>
              </a:rPr>
              <a:t>Как UI, core и инфраструктура соединяются в общем архитектурном контуре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754380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ab2-sca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389888"/>
            <a:ext cx="7242048" cy="482803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29600" y="1234440"/>
            <a:ext cx="3456432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61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0" y="1234440"/>
            <a:ext cx="3456432" cy="393192"/>
          </a:xfrm>
          <a:prstGeom prst="rect">
            <a:avLst/>
          </a:prstGeom>
          <a:solidFill>
            <a:srgbClr val="1061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Что показывает диаграмма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94192" y="1709928"/>
            <a:ext cx="3182112" cy="3913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0252B"/>
                </a:solidFill>
                <a:latin typeface="Times New Roman"/>
              </a:defRPr>
            </a:pPr>
            <a:r>
              <a:t>• Слева расположен UI, в центре core со ViewModel, use cases и repository contracts, справа adapters и внешние системы.</a:t>
            </a:r>
          </a:p>
          <a:p>
            <a:pPr>
              <a:spcAft>
                <a:spcPts val="600"/>
              </a:spcAft>
              <a:defRPr sz="1400">
                <a:solidFill>
                  <a:srgbClr val="20252B"/>
                </a:solidFill>
                <a:latin typeface="Times New Roman"/>
              </a:defRPr>
            </a:pPr>
            <a:r>
              <a:t>• UI не ходит напрямую в сеть, БД или файловую систему: все идет через ViewModel и use case-контракты.</a:t>
            </a:r>
          </a:p>
          <a:p>
            <a:pPr>
              <a:spcAft>
                <a:spcPts val="600"/>
              </a:spcAft>
              <a:defRPr sz="1400">
                <a:solidFill>
                  <a:srgbClr val="20252B"/>
                </a:solidFill>
                <a:latin typeface="Times New Roman"/>
              </a:defRPr>
            </a:pPr>
            <a:r>
              <a:t>• Диаграмма иллюстрирует Clean Architecture, DIP и возможность менять concrete-реализации без переписывания ядра.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5577840"/>
            <a:ext cx="3456432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61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ctr"/>
            <a:r>
              <a:rPr sz="1200">
                <a:solidFill>
                  <a:srgbClr val="20252B"/>
                </a:solidFill>
                <a:latin typeface="Times New Roman"/>
              </a:rPr>
              <a:t>Главная мысль: зависимости направлены к абстракциям, а инфраструктура подключается как внешний слой через adapters.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64040" y="64465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16973"/>
                </a:solidFill>
                <a:latin typeface="Times New Roman"/>
              </a:rPr>
              <a:t>Лабораторная 2, страница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D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D3A6B"/>
                </a:solidFill>
                <a:latin typeface="Times New Roman"/>
              </a:rPr>
              <a:t>Facade Pattern: iOS AR Subsystem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616973"/>
                </a:solidFill>
                <a:latin typeface="Times New Roman"/>
              </a:rPr>
              <a:t>Как скрыта сложность AR-подсистемы на iOS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754380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ab3-fac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389888"/>
            <a:ext cx="7242048" cy="482803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29600" y="1234440"/>
            <a:ext cx="3456432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2B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0" y="1234440"/>
            <a:ext cx="3456432" cy="393192"/>
          </a:xfrm>
          <a:prstGeom prst="rect">
            <a:avLst/>
          </a:prstGeom>
          <a:solidFill>
            <a:srgbClr val="82B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Что показывает диаграмма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94192" y="1709928"/>
            <a:ext cx="3182112" cy="3913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0252B"/>
                </a:solidFill>
                <a:latin typeface="Times New Roman"/>
              </a:defRPr>
            </a:pPr>
            <a:r>
              <a:t>• Клиентом выступает ArScreen, который работает не с ARKit напрямую, а с единой точкой входа ARSceneFacade.</a:t>
            </a:r>
          </a:p>
          <a:p>
            <a:pPr>
              <a:spcAft>
                <a:spcPts val="600"/>
              </a:spcAft>
              <a:defRPr sz="1400">
                <a:solidFill>
                  <a:srgbClr val="20252B"/>
                </a:solidFill>
                <a:latin typeface="Times New Roman"/>
              </a:defRPr>
            </a:pPr>
            <a:r>
              <a:t>• Facade координирует внутренние сервисы: конфигурацию сессии, загрузку модели, размещение объекта, жесты, overlay и telemetry.</a:t>
            </a:r>
          </a:p>
          <a:p>
            <a:pPr>
              <a:spcAft>
                <a:spcPts val="600"/>
              </a:spcAft>
              <a:defRPr sz="1400">
                <a:solidFill>
                  <a:srgbClr val="20252B"/>
                </a:solidFill>
                <a:latin typeface="Times New Roman"/>
              </a:defRPr>
            </a:pPr>
            <a:r>
              <a:t>• Внешняя сложность RealityKit/ARKit и локального model cache скрыта за коротким бизнес-интерфейсом фасада.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5577840"/>
            <a:ext cx="3456432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2B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ctr"/>
            <a:r>
              <a:rPr sz="1200">
                <a:solidFill>
                  <a:srgbClr val="20252B"/>
                </a:solidFill>
                <a:latin typeface="Times New Roman"/>
              </a:rPr>
              <a:t>Эта схема показывает применение структурного паттерна Facade для упрощения сложной AR-подсистемы.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64040" y="64465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16973"/>
                </a:solidFill>
                <a:latin typeface="Times New Roman"/>
              </a:rPr>
              <a:t>Лабораторная 3, страница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D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D3A6B"/>
                </a:solidFill>
                <a:latin typeface="Times New Roman"/>
              </a:rPr>
              <a:t>Итог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616973"/>
                </a:solidFill>
                <a:latin typeface="Times New Roman"/>
              </a:rPr>
              <a:t>Логика проектирования от бизнес-уровня к реализации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6583680" cy="4526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2B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6583680" cy="393192"/>
          </a:xfrm>
          <a:prstGeom prst="rect">
            <a:avLst/>
          </a:prstGeom>
          <a:solidFill>
            <a:srgbClr val="82B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Главные выводы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801368"/>
            <a:ext cx="6309360" cy="3959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0252B"/>
                </a:solidFill>
                <a:latin typeface="Times New Roman"/>
              </a:defRPr>
            </a:pPr>
            <a:r>
              <a:t>• Контекстная и контейнерная диаграммы задают границы системы и показывают техническое разбиение решения.</a:t>
            </a:r>
          </a:p>
          <a:p>
            <a:pPr>
              <a:spcAft>
                <a:spcPts val="600"/>
              </a:spcAft>
              <a:defRPr sz="1400">
                <a:solidFill>
                  <a:srgbClr val="20252B"/>
                </a:solidFill>
                <a:latin typeface="Times New Roman"/>
              </a:defRPr>
            </a:pPr>
            <a:r>
              <a:t>• Доменная модель фиксирует устойчивые бизнес-сущности: товар, корзину и AR-описание продукта.</a:t>
            </a:r>
          </a:p>
          <a:p>
            <a:pPr>
              <a:spcAft>
                <a:spcPts val="600"/>
              </a:spcAft>
              <a:defRPr sz="1400">
                <a:solidFill>
                  <a:srgbClr val="20252B"/>
                </a:solidFill>
                <a:latin typeface="Times New Roman"/>
              </a:defRPr>
            </a:pPr>
            <a:r>
              <a:t>• Core-диаграмма показывает ключевой пользовательский сценарий PDP -&gt; кэш модели -&gt; AR -&gt; корзина.</a:t>
            </a:r>
          </a:p>
          <a:p>
            <a:pPr>
              <a:spcAft>
                <a:spcPts val="600"/>
              </a:spcAft>
              <a:defRPr sz="1400">
                <a:solidFill>
                  <a:srgbClr val="20252B"/>
                </a:solidFill>
                <a:latin typeface="Times New Roman"/>
              </a:defRPr>
            </a:pPr>
            <a:r>
              <a:t>• Scaled Architecture объясняет, как UI, use cases, repository contracts и adapters связаны по правилам Clean Architecture.</a:t>
            </a:r>
          </a:p>
          <a:p>
            <a:pPr>
              <a:spcAft>
                <a:spcPts val="600"/>
              </a:spcAft>
              <a:defRPr sz="1400">
                <a:solidFill>
                  <a:srgbClr val="20252B"/>
                </a:solidFill>
                <a:latin typeface="Times New Roman"/>
              </a:defRPr>
            </a:pPr>
            <a:r>
              <a:t>• Facade Diagram демонстрирует локальное упрощение сложной iOS AR-подсистемы через единый ARSceneFacade.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1325880"/>
            <a:ext cx="40690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9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ctr"/>
            <a:r>
              <a:rPr sz="1200">
                <a:solidFill>
                  <a:srgbClr val="20252B"/>
                </a:solidFill>
                <a:latin typeface="Times New Roman"/>
              </a:rPr>
              <a:t>Вся серия диаграмм описывает один и тот же проект на разных уровнях абстракции: сначала внешнее окружение, затем внутреннюю структуру, потом доменную модель, ключевой сценарий и частный архитектурный паттерн.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3611880"/>
            <a:ext cx="406908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61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ctr"/>
            <a:r>
              <a:rPr sz="1200">
                <a:solidFill>
                  <a:srgbClr val="20252B"/>
                </a:solidFill>
                <a:latin typeface="Times New Roman"/>
              </a:rPr>
              <a:t>Такой набор схем можно использовать и в презентации, и в пояснительной записке: каждая диаграмма отвечает на свой архитектурный вопрос и не дублирует предыдущую.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64040" y="64465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16973"/>
                </a:solidFill>
                <a:latin typeface="Times New Roman"/>
              </a:rPr>
              <a:t>Финальный слайд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